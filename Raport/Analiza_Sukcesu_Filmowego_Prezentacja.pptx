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Analiza czynników sukcesu finansowego w branży filmowej</a:t>
            </a:r>
          </a:p>
          <a:p>
            <a:pPr>
              <a:spcBef>
                <a:spcPts val="1500"/>
              </a:spcBef>
              <a:defRPr sz="1800">
                <a:solidFill>
                  <a:srgbClr val="B4C8E6"/>
                </a:solidFill>
                <a:latin typeface="Arial"/>
              </a:defRPr>
            </a:pPr>
            <a:r>
              <a:t>Projekt analityczny i wdrożenie modelu NLP (Podsumowanie Etapu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6AABE"/>
                </a:solidFill>
                <a:latin typeface="Arial"/>
              </a:defRPr>
            </a:pPr>
            <a:r>
              <a:t>Przedmiot: Zastosowania języka Python w Data Science i AI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Skład zespołu (Grupa 10): Jakub Barej (71903), Szymon Skuza (73001), Oskar Mitek (78417)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1. Cel projektu i opis funkcjonalności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Główny cel badania: </a:t>
            </a:r>
            <a:r>
              <a:rPr b="0" sz="1500">
                <a:solidFill>
                  <a:srgbClr val="323C50"/>
                </a:solidFill>
                <a:latin typeface="Arial"/>
              </a:rPr>
              <a:t>Analiza korelacji między nakładami finansowymi (budżetem) a finalnym przychodem rynkowym. Projekt ma na celu określenie, czy sukces komercyjny filmu jest bezpośrednią pochodną zainwestowanego kapitału.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Cel etapu finałowego: </a:t>
            </a:r>
            <a:r>
              <a:rPr b="0" sz="1500">
                <a:solidFill>
                  <a:srgbClr val="323C50"/>
                </a:solidFill>
                <a:latin typeface="Arial"/>
              </a:rPr>
              <a:t>Praktyczne wdrożenie, dostrojenie (fine-tuning) oraz ewaluacja zaawansowanego modelu językowego opartego na architekturze Transformer (DistilBERT) do klasyfikacji sukcesu komercyjnego na podstawie opisów fabuły.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Funkcjonalność biznesowa: </a:t>
            </a:r>
            <a:r>
              <a:rPr b="0" sz="1500">
                <a:solidFill>
                  <a:srgbClr val="323C50"/>
                </a:solidFill>
                <a:latin typeface="Arial"/>
              </a:rPr>
              <a:t>Opracowane narzędzie ma charakter predykcyjny. Służy do automatycznej analizy semantycznej tekstu naturalnego (zmienna 'overview') w celu wsparcia strategicznych decyzji inwestycyjnych w branży kinematograficznej.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Charakterystyka danych wejściowych: </a:t>
            </a:r>
            <a:r>
              <a:rPr b="0" sz="1500">
                <a:solidFill>
                  <a:srgbClr val="323C50"/>
                </a:solidFill>
                <a:latin typeface="Arial"/>
              </a:rPr>
              <a:t>Aplikacja przyjmuje surowy tekst opisujący fabułę filmu, przetwarza go przez dedykowany potok tokenizacji i generuje odpowiedź binarną wskazującą na potencjał rynkowy produkcji.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2. Odnośnik do poprzednich etapów badania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Źródło danych (Etap 2): </a:t>
            </a:r>
            <a:r>
              <a:rPr b="0" sz="1500">
                <a:solidFill>
                  <a:srgbClr val="323C50"/>
                </a:solidFill>
                <a:latin typeface="Arial"/>
              </a:rPr>
              <a:t>Wykorzystano oficjalny zbiór danych TMDB 5000 Movie Dataset pobrany z platformy Kaggle, zwierający szczegółowe metadane dotyczące 5000 produkcji filmowych.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Przygotowanie i czyszczenie danych: </a:t>
            </a:r>
            <a:r>
              <a:rPr b="0" sz="1500">
                <a:solidFill>
                  <a:srgbClr val="323C50"/>
                </a:solidFill>
                <a:latin typeface="Arial"/>
              </a:rPr>
              <a:t>Proces filtracji rekordów zerowych przeprowadzony przez Szymona Skuzę. Usunięto filmy posiadające budżet lub przychód wynoszący 0 USD, co pozwoliło na prawidłową normalizację statystyczną.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Analiza korelacji Pearsona: </a:t>
            </a:r>
            <a:r>
              <a:rPr b="0" sz="1500">
                <a:solidFill>
                  <a:srgbClr val="323C50"/>
                </a:solidFill>
                <a:latin typeface="Arial"/>
              </a:rPr>
              <a:t>W pierwszym etapie inżynier projektu Jakub Barej nadzorował obliczenie korelacji między budżetem a przychodem. Wynik wyniósł 0.73, wskazując na silną zależność liniową.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Zjawisko Blockbusterów: </a:t>
            </a:r>
            <a:r>
              <a:rPr b="0" sz="1500">
                <a:solidFill>
                  <a:srgbClr val="323C50"/>
                </a:solidFill>
                <a:latin typeface="Arial"/>
              </a:rPr>
              <a:t>Wykryto, że choć trend jest stabilny, istnieją skrajnie wysokie wartości przychodowe dla filmów wysokobudżetowych. To zmotywowało zespół do przejścia w Etapie 3 do nieliniowych modeli językowych (LLM) w celu głębszej analizy semantycznej opisów.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3. Struktura potoku NLP i definicja klasyfikacji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Definicja sukcesu komercyjnego (Etykiety): </a:t>
            </a:r>
            <a:r>
              <a:rPr b="0" sz="1500">
                <a:solidFill>
                  <a:srgbClr val="323C50"/>
                </a:solidFill>
                <a:latin typeface="Arial"/>
              </a:rPr>
              <a:t>W celu uczenia nadzorowanego stworzono zmienną binarną 'success'. Klasa 1 (SUKCES) jest przypisywana, gdy przychód filmu co najmniej dwukrotnie przewyższa budżet (revenue &gt; 2 * budget). Klasa 0 oznacza brak satysfakcjonującego zwrotu.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Przetwarzanie i Tokenizacja tekstu: </a:t>
            </a:r>
            <a:r>
              <a:rPr b="0" sz="1500">
                <a:solidFill>
                  <a:srgbClr val="323C50"/>
                </a:solidFill>
                <a:latin typeface="Arial"/>
              </a:rPr>
              <a:t>Surowy opis fabuły ('overview') jest mapowany na wektory liczbowe przy użyciu klasy DistilBertTokenizerFast. Maksymalna długość sekwencji tekstowej została sztywno ograniczona do max_length=128 tokenów.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Architektura klasyfikatora: </a:t>
            </a:r>
            <a:r>
              <a:rPr b="0" sz="1500">
                <a:solidFill>
                  <a:srgbClr val="323C50"/>
                </a:solidFill>
                <a:latin typeface="Arial"/>
              </a:rPr>
              <a:t>Wykorzystano model DistilBertForSequenceClassification skonfigurowany pod kątem klasyfikacji sekwencji z warstwą wyjściową mapującą do dwóch klas (0 i 1).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Wynik działania potoku: </a:t>
            </a:r>
            <a:r>
              <a:rPr b="0" sz="1500">
                <a:solidFill>
                  <a:srgbClr val="323C50"/>
                </a:solidFill>
                <a:latin typeface="Arial"/>
              </a:rPr>
              <a:t>Aplikacja po przetworzeniu tekstu zwraca sformatowany komunikat w konsoli: 'SUKCES FINANSOWY' lub 'BRAK SUKCESU', co dowodzi kompletności zaprojektowanej architektury logicznej.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4. Proces fine-tuningu i konfiguracja modelu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Wybór modelu bazowego: </a:t>
            </a:r>
            <a:r>
              <a:rPr b="0" sz="1500">
                <a:solidFill>
                  <a:srgbClr val="323C50"/>
                </a:solidFill>
                <a:latin typeface="Arial"/>
              </a:rPr>
              <a:t>Wykorzystano model distilbert-base-uncased udostępniony w bibliotece Hugging Face. Jest to lekka, skompresowana wersja klasycznego modelu BERT stworzona w procesie destylacji wiedzy.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Efektywność obliczeniowa: </a:t>
            </a:r>
            <a:r>
              <a:rPr b="0" sz="1500">
                <a:solidFill>
                  <a:srgbClr val="323C50"/>
                </a:solidFill>
                <a:latin typeface="Arial"/>
              </a:rPr>
              <a:t>DistilBERT zachowuje ponad 95% zdolności językowych modelu BERT, będąc przy tym o 40% mniejszym i o 60% szybszym, co było kluczowe przy ograniczeniach infrastruktury studenckiej.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Hiperparametry uczenia (Trainer API):</a:t>
            </a:r>
            <a:r>
              <a:rPr b="0" sz="1500">
                <a:solidFill>
                  <a:srgbClr val="323C50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- Epoki treningowe: </a:t>
            </a:r>
            <a:r>
              <a:rPr b="0" sz="1500">
                <a:solidFill>
                  <a:srgbClr val="323C50"/>
                </a:solidFill>
                <a:latin typeface="Arial"/>
              </a:rPr>
              <a:t>Uczenie przeprowadzono stabilnie przez 2 pełne epoki treningowe.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- Rozmiar paczki (Batch Size): </a:t>
            </a:r>
            <a:r>
              <a:rPr b="0" sz="1500">
                <a:solidFill>
                  <a:srgbClr val="323C50"/>
                </a:solidFill>
                <a:latin typeface="Arial"/>
              </a:rPr>
              <a:t>Ustawiono na 8 próbek zarówno dla zbioru uczącego, jak i walidacyjnego.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- Optymalizator i regularyzacja: </a:t>
            </a:r>
            <a:r>
              <a:rPr b="0" sz="1500">
                <a:solidFill>
                  <a:srgbClr val="323C50"/>
                </a:solidFill>
                <a:latin typeface="Arial"/>
              </a:rPr>
              <a:t>Zastosowano optymalizator AdamW z parametrem tłumienia wag (weight decay) na poziomie 0.01 w celu aktywnego zapobiegania zjawisku przeuczenia sieci.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5. Instrukcja uruchomienia i replikacji wyników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Specyfikacja środowiska: </a:t>
            </a:r>
            <a:r>
              <a:rPr b="0" sz="1500">
                <a:solidFill>
                  <a:srgbClr val="323C50"/>
                </a:solidFill>
                <a:latin typeface="Arial"/>
              </a:rPr>
              <a:t>Kod źródłowy został zoptymalizowany i dostosowany do uruchomienia w darmowym środowisku chmurowym Google Colab z wykorzystaniem akceleracji sprzętowej GPU.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Wymagane zasoby plikowe: </a:t>
            </a:r>
            <a:r>
              <a:rPr b="0" sz="1500">
                <a:solidFill>
                  <a:srgbClr val="323C50"/>
                </a:solidFill>
                <a:latin typeface="Arial"/>
              </a:rPr>
              <a:t>Do poprawnego uruchomienia niezbędne jest pobranie skryptu main.py oraz bazowego pliku danych tmdb_5000_movies.csv z repozytorium GitHub grupy (https://github.com/Ksionk/ProjektAl).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Kroki replikacji potoku uczenia:</a:t>
            </a:r>
            <a:r>
              <a:rPr b="0" sz="1500">
                <a:solidFill>
                  <a:srgbClr val="323C50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1. Środowisko wykonawcze: </a:t>
            </a:r>
            <a:r>
              <a:rPr b="0" sz="1500">
                <a:solidFill>
                  <a:srgbClr val="323C50"/>
                </a:solidFill>
                <a:latin typeface="Arial"/>
              </a:rPr>
              <a:t>W menu Google Colab należy zmienić typ środowiska wykonawczego na 'T4 GPU'.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2. Repozytorium danych: </a:t>
            </a:r>
            <a:r>
              <a:rPr b="0" sz="1500">
                <a:solidFill>
                  <a:srgbClr val="323C50"/>
                </a:solidFill>
                <a:latin typeface="Arial"/>
              </a:rPr>
              <a:t>Wgrać plik bazy danych CSV do głównego katalogu roboczego bieżącej sesji.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3. Instalacja pakietów: </a:t>
            </a:r>
            <a:r>
              <a:rPr b="0" sz="1500">
                <a:solidFill>
                  <a:srgbClr val="323C50"/>
                </a:solidFill>
                <a:latin typeface="Arial"/>
              </a:rPr>
              <a:t>Wykonać komendę: pip install pandas numpy torch scikit-learn transformers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4. Egzekucja kodu: </a:t>
            </a:r>
            <a:r>
              <a:rPr b="0" sz="1500">
                <a:solidFill>
                  <a:srgbClr val="323C50"/>
                </a:solidFill>
                <a:latin typeface="Arial"/>
              </a:rPr>
              <a:t>Uruchomić skrypt główny bezpośrednio z poziomu konsoli za pomocą polecenia: python main.py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6. Zasoby i ograniczenia sprzętowe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Akceleracja sprzętowa (GPU vs CPU): </a:t>
            </a:r>
            <a:r>
              <a:rPr b="0" sz="1500">
                <a:solidFill>
                  <a:srgbClr val="323C50"/>
                </a:solidFill>
                <a:latin typeface="Arial"/>
              </a:rPr>
              <a:t>Trening na procesorze CPU został całkowicie odrzucony na wczesnym etapie ze względu na zbyt wysoki, nieakceptowalny czas oczekiwania. Proces oparto o kartę Tesla T4.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Zarządzanie pamięcią VRAM: </a:t>
            </a:r>
            <a:r>
              <a:rPr b="0" sz="1500">
                <a:solidFill>
                  <a:srgbClr val="323C50"/>
                </a:solidFill>
                <a:latin typeface="Arial"/>
              </a:rPr>
              <a:t>Zastosowanie odchudzonego modelu DistilBERT zredukowało rozmiar wag sieci o 40%. Dzięki temu użycie pamięci graficznej VRAM nie przekroczyło progu 4 GB, eliminując błędy Out-Of-Memory.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Świadome ograniczenie próby danych: </a:t>
            </a:r>
            <a:r>
              <a:rPr b="0" sz="1500">
                <a:solidFill>
                  <a:srgbClr val="323C50"/>
                </a:solidFill>
                <a:latin typeface="Arial"/>
              </a:rPr>
              <a:t>W celu bezawaryjnej demonstracji sprawności potoku kodu bez ryzyka zerwania darmowej sesji w chmurze, wielkość próby danych wejściowych została w kodzie celowo ograniczona do 200 losowych rekordów.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Czas wykonania: </a:t>
            </a:r>
            <a:r>
              <a:rPr b="0" sz="1500">
                <a:solidFill>
                  <a:srgbClr val="323C50"/>
                </a:solidFill>
                <a:latin typeface="Arial"/>
              </a:rPr>
              <a:t>Dzięki wprowadzonym optymalizacjom wielkości paczki i ograniczeniu próby, pełny proces fine-tuningu oraz ewaluacji zamyka się w krótkim czasie demonstracyjnym, gwarantując stabilność środowiska.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7. Analiza i interpretacja wyników (Ewaluacja)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Uzyskane metryki statystyczne: </a:t>
            </a:r>
            <a:r>
              <a:rPr b="0" sz="1500">
                <a:solidFill>
                  <a:srgbClr val="323C50"/>
                </a:solidFill>
                <a:latin typeface="Arial"/>
              </a:rPr>
              <a:t>Po zakończeniu procesu fine-tuningu, model przeprowadził automatyczną ewaluację na wydzielonym zbiorze testowym. Uzyskano Dokładność (Accuracy) równą 0.60 oraz wskaźnik F1-Score na poziomie 0.00.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Wynik przypadku testowego: </a:t>
            </a:r>
            <a:r>
              <a:rPr b="0" sz="1500">
                <a:solidFill>
                  <a:srgbClr val="323C50"/>
                </a:solidFill>
                <a:latin typeface="Arial"/>
              </a:rPr>
              <a:t>Dla wprowadzonego zdania testowego: 'A lonely astronaut discovers an ancient alien artifact on Mars...' model wygenerował predykcję: BRAK SUKCESU.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Czy wynik F1 = 0.00 to błąd? (Interpretacja): </a:t>
            </a:r>
            <a:r>
              <a:rPr b="0" sz="1500">
                <a:solidFill>
                  <a:srgbClr val="323C50"/>
                </a:solidFill>
                <a:latin typeface="Arial"/>
              </a:rPr>
              <a:t>NIE, kod działa w 100% poprawnie technicznie. Wyniki te idealnie obrazują klasyczne zjawisko dominacji klasy większościowej (imbalanced data) w warunkach silnego ograniczenia danych uczących do 200 rekordów.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Matematyczna strategia modelu: </a:t>
            </a:r>
            <a:r>
              <a:rPr b="0" sz="1500">
                <a:solidFill>
                  <a:srgbClr val="323C50"/>
                </a:solidFill>
                <a:latin typeface="Arial"/>
              </a:rPr>
              <a:t>Ponieważ zbiór cechuje asymetria, model szybko nauczył się strategii statystycznie najbezpieczniejszej: klasyfikowania nieznanych tekstów jako ryzykowne (klasa 0). Pozwoliło mu to sztucznie osiągnąć ogólne Accuracy na poziomie 60%, pomimo całkowitego ignorowania klasy mniejszościowej.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B4C"/>
                </a:solidFill>
                <a:latin typeface="Arial"/>
              </a:defRPr>
            </a:pPr>
            <a:r>
              <a:t>8. Podsumowanie projektu i rekomendacje komercyjne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Wnioski inżynieryjne: </a:t>
            </a:r>
            <a:r>
              <a:rPr b="0" sz="1500">
                <a:solidFill>
                  <a:srgbClr val="323C50"/>
                </a:solidFill>
                <a:latin typeface="Arial"/>
              </a:rPr>
              <a:t>Faza wdrożenia architektury Transformer zakończyła się pełnym sukcesem programistycznym. Potok danych jest stabilny, prawidłowo mapuje surowy tekst, wykonuje tokenizację i przechodzi przez warstwy sieci.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Wartość edukacyjna badania: </a:t>
            </a:r>
            <a:r>
              <a:rPr b="0" sz="1500">
                <a:solidFill>
                  <a:srgbClr val="323C50"/>
                </a:solidFill>
                <a:latin typeface="Arial"/>
              </a:rPr>
              <a:t>Projekt pozwolił zespołowi na praktyczne zrozumienie wyzwań związanych z uczeniem maszynowym: barier sprzętowych, limitów pamięci VRAM oraz wpływu asymetrii klas na zachowanie sieci neuronowych.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• Rekomendacje komercyjne (Jak usunąć problem F1): </a:t>
            </a:r>
            <a:r>
              <a:rPr b="0" sz="1500">
                <a:solidFill>
                  <a:srgbClr val="323C50"/>
                </a:solidFill>
                <a:latin typeface="Arial"/>
              </a:rPr>
              <a:t>Aby podnieść zdolności predykcyjne modelu i wyeliminować ignorowanie klasy mniejszościowej w warunkach produkcyjnych, należy: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1. Usunąć limit danych: </a:t>
            </a:r>
            <a:r>
              <a:rPr b="0" sz="1500">
                <a:solidFill>
                  <a:srgbClr val="323C50"/>
                </a:solidFill>
                <a:latin typeface="Arial"/>
              </a:rPr>
              <a:t>Przeprowadzić pełny proces uczenia na kompletnym zbiorze zawierającym wszystkie 5000 filmów.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1A2B4C"/>
                </a:solidFill>
                <a:latin typeface="Arial"/>
              </a:rPr>
              <a:t>  2. Balansowanie klas: </a:t>
            </a:r>
            <a:r>
              <a:rPr b="0" sz="1500">
                <a:solidFill>
                  <a:srgbClr val="323C50"/>
                </a:solidFill>
                <a:latin typeface="Arial"/>
              </a:rPr>
              <a:t>Zastosować zaawansowane metody balansowania (np. undersampling klasy większościowej, tekstowy oversampling lub modyfikację wag funkcji kosztu - Class Weights).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